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76" d="100"/>
          <a:sy n="76" d="100"/>
        </p:scale>
        <p:origin x="42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26970A-4E20-4119-8B59-C88EA4377A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265F1D-7AA9-47AF-A203-B7A36CAB5A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570311-244B-4316-A1F5-FFC804A52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CC7D-D85C-4C9E-B27F-811A9302BECB}" type="datetimeFigureOut">
              <a:rPr lang="en-SG" smtClean="0"/>
              <a:t>21/9/2025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3F6D4C-790A-4778-B3B7-B51F1C120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E4F2B-7646-4795-91AD-2086E8B2F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EC4BF6-38C5-4397-AE69-902122CDD92B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444315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52DD6-3A98-4110-AD62-78E2247A1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C23C59-C744-4BE4-9C40-976D9A7D79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FA82D3-BC91-486B-B318-57CE22C79D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CC7D-D85C-4C9E-B27F-811A9302BECB}" type="datetimeFigureOut">
              <a:rPr lang="en-SG" smtClean="0"/>
              <a:t>21/9/2025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36A1B1-453A-40BD-9A19-E4F6F7AAB3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04A055-FC26-4F93-A2AB-032EA2874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EC4BF6-38C5-4397-AE69-902122CDD92B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5496614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93226-7E95-4787-B0BA-5BEA5C9171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B4F810-97BF-464D-A19D-BBFB36AD9F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69E5FF-708B-4192-A8A6-14AA2BCCA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CC7D-D85C-4C9E-B27F-811A9302BECB}" type="datetimeFigureOut">
              <a:rPr lang="en-SG" smtClean="0"/>
              <a:t>21/9/2025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0576BF-5FB7-4F3C-9F6C-11B26AAF6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8807FD-2D92-4EB2-A7D9-0C503C6DD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EC4BF6-38C5-4397-AE69-902122CDD92B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78197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273B51-3F59-4DDD-8046-E4716CC63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B1C753-8127-4686-844A-513F81BF49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EEB8A9-268E-4850-BBFB-4E5A36C49D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095D8D-11EA-470C-ADAC-395C8F875F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CC7D-D85C-4C9E-B27F-811A9302BECB}" type="datetimeFigureOut">
              <a:rPr lang="en-SG" smtClean="0"/>
              <a:t>21/9/2025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4DE9A4-EF41-41C1-B73B-7852B700DD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E3F9E0-CA9E-4ED6-871E-E7A5B7D95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EC4BF6-38C5-4397-AE69-902122CDD92B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71000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87BCD-9409-4BE4-B325-32823A6EA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3CC82F-9C60-4D94-98D9-7BFB863869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04AD4C-0635-4693-A5AB-DA6953B0E0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08F183-3439-44D2-A663-B4683E7310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790D1BA-862A-46A9-A995-412513F8EF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2B02E8-6EBE-41BC-8E46-BB436806C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CC7D-D85C-4C9E-B27F-811A9302BECB}" type="datetimeFigureOut">
              <a:rPr lang="en-SG" smtClean="0"/>
              <a:t>21/9/2025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5DB9B9D-71CC-441D-AD82-BE48679AE2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2515E09-9646-4CE9-923C-F1F8D4634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EC4BF6-38C5-4397-AE69-902122CDD92B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489293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D84B4-C38A-47F8-A987-F5228C3CB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8DDA55-C8A9-4FD4-8BFB-A4DBCF693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CC7D-D85C-4C9E-B27F-811A9302BECB}" type="datetimeFigureOut">
              <a:rPr lang="en-SG" smtClean="0"/>
              <a:t>21/9/2025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9281BF-6B30-4204-BB0B-1D94CED06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66311B-ABB3-477F-A6C8-6F8D3C489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EC4BF6-38C5-4397-AE69-902122CDD92B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4577618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77FF316-CCF5-4F7E-9F70-AD09C8D38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CC7D-D85C-4C9E-B27F-811A9302BECB}" type="datetimeFigureOut">
              <a:rPr lang="en-SG" smtClean="0"/>
              <a:t>21/9/2025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F55CAB-785C-4CBD-8120-E90F80839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2B9229-C7E0-49BA-A9EE-634E76AA5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EC4BF6-38C5-4397-AE69-902122CDD92B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3533194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691536-84CE-44D6-91BE-CBEEB15FB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2105C9-0257-4AE6-B26E-AFDF4D1A32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8FC0F1-F388-4735-A019-9CA25E8CAE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EAD728-1B0C-4D9D-86D7-751ABA7EF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CC7D-D85C-4C9E-B27F-811A9302BECB}" type="datetimeFigureOut">
              <a:rPr lang="en-SG" smtClean="0"/>
              <a:t>21/9/2025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245DE0-7210-4682-BC09-E836411B89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BDE1DF-42D0-4FB2-92E1-2D5296E47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EC4BF6-38C5-4397-AE69-902122CDD92B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90252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461F6-B3E5-4026-ACFE-26AF46D02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8E6FB1-4C4E-4267-AF8C-0020C4F2DB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519A1-6E9B-4E4B-A3B7-C06B6697B7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32D428-7437-49BA-B95E-D782532CF0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CC7D-D85C-4C9E-B27F-811A9302BECB}" type="datetimeFigureOut">
              <a:rPr lang="en-SG" smtClean="0"/>
              <a:t>21/9/2025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5D387B-8F84-4F06-92C3-4106E85D93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DC2172-A2B6-43CF-AD2E-888D7FB02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EC4BF6-38C5-4397-AE69-902122CDD92B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846674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17169-DB81-4844-A9D0-FB2F739FD0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2DDBAFA-1059-4F77-85A3-96448C7F30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F46AEE-3231-4888-A50C-F33BA5884E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CC7D-D85C-4C9E-B27F-811A9302BECB}" type="datetimeFigureOut">
              <a:rPr lang="en-SG" smtClean="0"/>
              <a:t>21/9/2025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46ED78-0A4E-47EC-8761-4134BEACF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F4CE3E-C18F-4DB0-A4DA-F2BF11EE5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EC4BF6-38C5-4397-AE69-902122CDD92B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642814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5015AD5-A3A3-44B1-BA18-C7960216E5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0681E5-4391-4037-B4FC-3D82DB6808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5C85BE-3E62-4741-8197-4292B3DB39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CC7D-D85C-4C9E-B27F-811A9302BECB}" type="datetimeFigureOut">
              <a:rPr lang="en-SG" smtClean="0"/>
              <a:t>21/9/2025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C41752-49E0-4BE0-8566-868BF76E4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271351-190E-4DAA-AA16-BFFFFF222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EC4BF6-38C5-4397-AE69-902122CDD92B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2913027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1347A4-F0D3-4FA3-A3E9-1D57057E84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C8147A-8D5C-4D1E-B533-94347E7831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859524-8B20-4AE1-8332-8A84B26308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F0CC7D-D85C-4C9E-B27F-811A9302BECB}" type="datetimeFigureOut">
              <a:rPr lang="en-SG" smtClean="0"/>
              <a:t>21/9/2025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97FF7-AB93-41FC-B199-0CBC3A1F2F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F04E2B-DEC4-4E3C-8E7C-8949528F12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EC4BF6-38C5-4397-AE69-902122CDD92B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691770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molesdash.streamlit.app/" TargetMode="External"/><Relationship Id="rId2" Type="http://schemas.openxmlformats.org/officeDocument/2006/relationships/hyperlink" Target="https://github.com/vrMithun/Analatica-Case-Study.gi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4F69B-A055-406F-8846-A2EE852DE96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SG" dirty="0"/>
              <a:t>Analytica: Data-Driven Insights for Urban Grocers</a:t>
            </a:r>
            <a:br>
              <a:rPr lang="en-SG" dirty="0"/>
            </a:br>
            <a:r>
              <a:rPr lang="en-GB" sz="3100" dirty="0"/>
              <a:t>Evaluating Business Performance and Growth Opportunities</a:t>
            </a:r>
            <a:endParaRPr lang="en-SG" sz="31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1C7582-43FD-430C-9545-B7AF89FDD3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804452" y="3763878"/>
            <a:ext cx="5994144" cy="1478541"/>
          </a:xfrm>
        </p:spPr>
        <p:txBody>
          <a:bodyPr>
            <a:normAutofit/>
          </a:bodyPr>
          <a:lstStyle/>
          <a:p>
            <a:r>
              <a:rPr lang="en-IN" b="1" dirty="0"/>
              <a:t>Done by:</a:t>
            </a:r>
          </a:p>
          <a:p>
            <a:pPr lvl="2"/>
            <a:r>
              <a:rPr lang="en-IN" dirty="0"/>
              <a:t>Anuj A</a:t>
            </a:r>
          </a:p>
          <a:p>
            <a:pPr lvl="2"/>
            <a:r>
              <a:rPr lang="en-IN" dirty="0" err="1"/>
              <a:t>Jei</a:t>
            </a:r>
            <a:r>
              <a:rPr lang="en-IN" dirty="0"/>
              <a:t> Akash M A</a:t>
            </a:r>
          </a:p>
          <a:p>
            <a:pPr lvl="2"/>
            <a:r>
              <a:rPr lang="en-IN" dirty="0"/>
              <a:t>Mithun V R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3A3306-9F63-47B0-84D3-C44B700C210B}"/>
              </a:ext>
            </a:extLst>
          </p:cNvPr>
          <p:cNvSpPr txBox="1"/>
          <p:nvPr/>
        </p:nvSpPr>
        <p:spPr>
          <a:xfrm>
            <a:off x="8567442" y="3763878"/>
            <a:ext cx="282614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u="sng" dirty="0"/>
              <a:t>Project </a:t>
            </a:r>
            <a:r>
              <a:rPr lang="en-GB" b="1" u="sng" dirty="0" err="1"/>
              <a:t>Artifacts</a:t>
            </a:r>
            <a:endParaRPr lang="en-GB" u="sng" dirty="0"/>
          </a:p>
          <a:p>
            <a:pPr lvl="1"/>
            <a:r>
              <a:rPr lang="en-GB" b="1" dirty="0"/>
              <a:t>GitHub Repository:</a:t>
            </a:r>
            <a:r>
              <a:rPr lang="en-GB" dirty="0"/>
              <a:t> </a:t>
            </a:r>
            <a:r>
              <a:rPr lang="en-GB" dirty="0" err="1">
                <a:hlinkClick r:id="rId2"/>
              </a:rPr>
              <a:t>Moles_GIT</a:t>
            </a:r>
            <a:endParaRPr lang="en-GB" dirty="0"/>
          </a:p>
          <a:p>
            <a:pPr lvl="1"/>
            <a:r>
              <a:rPr lang="en-GB" b="1" dirty="0"/>
              <a:t>Live Dashboard:</a:t>
            </a:r>
            <a:r>
              <a:rPr lang="en-GB" dirty="0"/>
              <a:t> </a:t>
            </a:r>
            <a:r>
              <a:rPr lang="en-GB" dirty="0" err="1">
                <a:hlinkClick r:id="rId3"/>
              </a:rPr>
              <a:t>Moles_Dash</a:t>
            </a:r>
            <a:endParaRPr lang="en-GB" dirty="0"/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3895066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B1DB9-6CB3-4909-86BC-8FAD4D7B7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Sales Rhythms: Peaks, Holidays &amp; Weekends </a:t>
            </a:r>
            <a:endParaRPr lang="en-SG" dirty="0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D062D62A-5AD0-4502-87C4-918F09B6DD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4653" y="1470538"/>
            <a:ext cx="4562829" cy="2566591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8D062C9-12BE-4DC4-B155-A1BDA3B386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055860"/>
            <a:ext cx="4787652" cy="269305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B207185-B21D-40AF-9056-4E69870E62EA}"/>
              </a:ext>
            </a:extLst>
          </p:cNvPr>
          <p:cNvSpPr txBox="1"/>
          <p:nvPr/>
        </p:nvSpPr>
        <p:spPr>
          <a:xfrm>
            <a:off x="5587482" y="1470537"/>
            <a:ext cx="6105509" cy="5170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Key Findings: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Monthly Sales Volatility: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Contrary to stable expectations, sales show clear fluctuations from month to month, ranging from approximately 19,000 to 20,700 units.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This suggests that demand is not consistent, and there may be external factors influencing performance.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End-of-Year Sales Dip: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The data reveals a significant ~18% drop in sales during the final month, representing a major seasonal downtrend that needs further investigation.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Minimal Holiday &amp; Weekend Impact: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Despite the monthly volatility, sales on holidays and weekends are surprisingly flat, averaging ~26 units sold per day.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This is a missed opportunity, as the company is not leveraging peak customer periods to drive significant sales growth.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66923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4F662-70B9-4A88-B286-DDCAEDACF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Demand Volatility: A Systemic Challenge</a:t>
            </a:r>
            <a:endParaRPr lang="en-SG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57521289-644F-425D-B418-915D9E4ED4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1" y="1690689"/>
            <a:ext cx="4774302" cy="154269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F625BE5-B855-4A48-8193-8357C5B949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807330"/>
            <a:ext cx="4774302" cy="268554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8D71D98-6070-4466-BA23-2E838AE8F4C4}"/>
              </a:ext>
            </a:extLst>
          </p:cNvPr>
          <p:cNvSpPr txBox="1"/>
          <p:nvPr/>
        </p:nvSpPr>
        <p:spPr>
          <a:xfrm>
            <a:off x="6036658" y="1456566"/>
            <a:ext cx="581817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Key Findings:</a:t>
            </a: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Consistent Volatility:</a:t>
            </a:r>
            <a:r>
              <a:rPr lang="en-GB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The data indicates that all of Urban Grocers' stores share a remarkably similar level of demand volatility, with a consistent </a:t>
            </a:r>
            <a:r>
              <a:rPr lang="en-GB" b="1" dirty="0"/>
              <a:t>Coefficient of Variation (CV)</a:t>
            </a:r>
            <a:r>
              <a:rPr lang="en-GB" dirty="0"/>
              <a:t> of approximately </a:t>
            </a:r>
            <a:r>
              <a:rPr lang="en-GB" b="1" dirty="0"/>
              <a:t>56%</a:t>
            </a:r>
            <a:r>
              <a:rPr lang="en-GB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No Single 'Problem' Store:</a:t>
            </a:r>
            <a:r>
              <a:rPr lang="en-GB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This finding reframes the challenge from a store-specific problem to a </a:t>
            </a:r>
            <a:r>
              <a:rPr lang="en-GB" b="1" dirty="0"/>
              <a:t>company-wide operational issue</a:t>
            </a:r>
            <a:r>
              <a:rPr lang="en-GB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Strategic Implication:</a:t>
            </a:r>
            <a:r>
              <a:rPr lang="en-GB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To manage this high level of unpredictability, the company should focus on implementing a single, unified strategy for </a:t>
            </a:r>
            <a:r>
              <a:rPr lang="en-GB" b="1" dirty="0"/>
              <a:t>inventory management</a:t>
            </a:r>
            <a:r>
              <a:rPr lang="en-GB" dirty="0"/>
              <a:t> and </a:t>
            </a:r>
            <a:r>
              <a:rPr lang="en-GB" b="1" dirty="0"/>
              <a:t>operational planning</a:t>
            </a:r>
            <a:r>
              <a:rPr lang="en-GB" dirty="0"/>
              <a:t> across all locations.</a:t>
            </a: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9612609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3C59E-82FD-420A-84CE-BFDA35DA6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Promotion Effectiveness: Driving Sales or Just Increasing Costs?</a:t>
            </a:r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F190463-1A5B-47F0-A4F5-CA55A83D49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057" y="1766822"/>
            <a:ext cx="4094570" cy="20025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C254057-A897-4B8A-A482-4EE38A9C4810}"/>
              </a:ext>
            </a:extLst>
          </p:cNvPr>
          <p:cNvSpPr txBox="1"/>
          <p:nvPr/>
        </p:nvSpPr>
        <p:spPr>
          <a:xfrm>
            <a:off x="6214683" y="1246173"/>
            <a:ext cx="5721069" cy="57861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Key Findings:</a:t>
            </a:r>
            <a:endParaRPr lang="en-GB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b="1" dirty="0"/>
              <a:t>Minimal Overall Impact:</a:t>
            </a:r>
            <a:r>
              <a:rPr lang="en-GB" sz="1600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/>
              <a:t>The current promotion strategy yields an almost negligible </a:t>
            </a:r>
            <a:r>
              <a:rPr lang="en-GB" sz="1600" b="1" dirty="0"/>
              <a:t>0.04% overall increase in sales</a:t>
            </a:r>
            <a:r>
              <a:rPr lang="en-GB" sz="1600" dirty="0"/>
              <a:t>, suggesting it is not a primary driver of revenue.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b="1" dirty="0"/>
              <a:t>No "Demand Creation" Effect:</a:t>
            </a:r>
            <a:r>
              <a:rPr lang="en-GB" sz="1600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/>
              <a:t>The core reason for this finding is that these products are </a:t>
            </a:r>
            <a:r>
              <a:rPr lang="en-GB" sz="1600" b="1" dirty="0"/>
              <a:t>essentials</a:t>
            </a:r>
            <a:r>
              <a:rPr lang="en-GB" sz="1600" dirty="0"/>
              <a:t>. Customers will purchase Bread, Milk, and Meat as needed, regardless of a minor discount. Promotions on such items are unlikely to significantly boost sales volume, as they don't create new demand.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b="1" dirty="0"/>
              <a:t>Unexpected Negative Effects:</a:t>
            </a:r>
            <a:r>
              <a:rPr lang="en-GB" sz="1600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/>
              <a:t>Promotions on </a:t>
            </a:r>
            <a:r>
              <a:rPr lang="en-GB" sz="1600" b="1" dirty="0"/>
              <a:t>Bread</a:t>
            </a:r>
            <a:r>
              <a:rPr lang="en-GB" sz="1600" dirty="0"/>
              <a:t>, </a:t>
            </a:r>
            <a:r>
              <a:rPr lang="en-GB" sz="1600" b="1" dirty="0"/>
              <a:t>Fruits</a:t>
            </a:r>
            <a:r>
              <a:rPr lang="en-GB" sz="1600" dirty="0"/>
              <a:t>, and </a:t>
            </a:r>
            <a:r>
              <a:rPr lang="en-GB" sz="1600" b="1" dirty="0"/>
              <a:t>Meat</a:t>
            </a:r>
            <a:r>
              <a:rPr lang="en-GB" sz="1600" dirty="0"/>
              <a:t> had an unexpected </a:t>
            </a:r>
            <a:r>
              <a:rPr lang="en-GB" sz="1600" b="1" dirty="0"/>
              <a:t>negative impact</a:t>
            </a:r>
            <a:r>
              <a:rPr lang="en-GB" sz="1600" dirty="0"/>
              <a:t> on average sales volume. This may be due to other factors or a direct cost to the business without a sales benefit.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b="1" dirty="0"/>
              <a:t>Targeted Success:</a:t>
            </a:r>
            <a:r>
              <a:rPr lang="en-GB" sz="1600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/>
              <a:t>Promotions were only effective for </a:t>
            </a:r>
            <a:r>
              <a:rPr lang="en-GB" sz="1600" b="1" dirty="0"/>
              <a:t>Milk</a:t>
            </a:r>
            <a:r>
              <a:rPr lang="en-GB" sz="1600" dirty="0"/>
              <a:t> and </a:t>
            </a:r>
            <a:r>
              <a:rPr lang="en-GB" sz="1600" b="1" dirty="0"/>
              <a:t>Vegetables</a:t>
            </a:r>
            <a:r>
              <a:rPr lang="en-GB" sz="1600" dirty="0"/>
              <a:t>, boosting sales by approximately </a:t>
            </a:r>
            <a:r>
              <a:rPr lang="en-GB" sz="1600" b="1" dirty="0"/>
              <a:t>0.4%</a:t>
            </a:r>
            <a:r>
              <a:rPr lang="en-GB" sz="1600" dirty="0"/>
              <a:t>. This suggests promotions should be targeted to these categories, and the company should reassess its approach for other product lines.</a:t>
            </a:r>
          </a:p>
          <a:p>
            <a:endParaRPr lang="en-SG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9C46D60-EAB6-4295-B603-8DE7DC1264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932182"/>
            <a:ext cx="4968510" cy="2794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9521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7ED5A-EE20-46CC-B060-471CC1572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Demand Patterns &amp; Forecast: A Strategic Look Ahead 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7EF03F-045D-4A1C-9933-1CC1D9FD72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5604" y="1383956"/>
            <a:ext cx="5373786" cy="557541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1600" b="1" dirty="0"/>
              <a:t>1. Key business challenges</a:t>
            </a:r>
          </a:p>
          <a:p>
            <a:r>
              <a:rPr lang="en-GB" sz="1600" b="1" dirty="0"/>
              <a:t>Overall sales volatility: </a:t>
            </a:r>
            <a:r>
              <a:rPr lang="en-GB" sz="1600" dirty="0"/>
              <a:t>monthly demand fluctuates by 5-10%, making planning difficult.</a:t>
            </a:r>
          </a:p>
          <a:p>
            <a:r>
              <a:rPr lang="en-GB" sz="1600" b="1" dirty="0"/>
              <a:t>Recurring seasonal lows: </a:t>
            </a:r>
            <a:r>
              <a:rPr lang="en-GB" sz="1600" dirty="0"/>
              <a:t>There's a significant drop in sales in December and other months, highlighting a consistent business challenge.</a:t>
            </a:r>
          </a:p>
          <a:p>
            <a:pPr marL="0" indent="0">
              <a:buNone/>
            </a:pPr>
            <a:r>
              <a:rPr lang="en-GB" sz="1600" b="1" dirty="0"/>
              <a:t>2. Strategic forecast: the case for milk</a:t>
            </a:r>
          </a:p>
          <a:p>
            <a:r>
              <a:rPr lang="en-GB" sz="1600" dirty="0"/>
              <a:t>We chose to forecast demand for milk because it’s an essential grocery item and the only product that responded positively to promotions. </a:t>
            </a:r>
          </a:p>
          <a:p>
            <a:r>
              <a:rPr lang="en-GB" sz="1600" dirty="0"/>
              <a:t>This forecast shows how we can use data to drive a better business strategy.</a:t>
            </a:r>
          </a:p>
          <a:p>
            <a:pPr marL="0" indent="0">
              <a:buNone/>
            </a:pPr>
            <a:r>
              <a:rPr lang="en-GB" sz="1600" b="1" dirty="0"/>
              <a:t>3. The milk forecast: key insights</a:t>
            </a:r>
          </a:p>
          <a:p>
            <a:r>
              <a:rPr lang="en-GB" sz="1600" dirty="0"/>
              <a:t>Our model predicts stable demand for milk over the next quarter, averaging ~47,000 units per month. </a:t>
            </a:r>
          </a:p>
          <a:p>
            <a:r>
              <a:rPr lang="en-GB" sz="1600" dirty="0"/>
              <a:t>The forecast provides a clear, actionable range for sales (e.g., 42,848 to 51,740 units in march 2025), which is crucial for optimizing inventory and minimizing waste.</a:t>
            </a:r>
            <a:endParaRPr lang="en-SG" sz="16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F214F85-5C7A-4C11-BB5F-097FB3A270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745" y="1721688"/>
            <a:ext cx="5354269" cy="150588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F1D387D-2857-4906-A105-238A50C91D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744" y="3414569"/>
            <a:ext cx="5354269" cy="3309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5722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3246E-0804-433F-9B97-73E7DB0C7B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Investment Status: A Long Road to Recovery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DFFDB4-ABC8-4B26-BA15-4173391C15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5032"/>
            <a:ext cx="10644398" cy="516731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sz="1400" b="1" dirty="0"/>
              <a:t>1. </a:t>
            </a:r>
            <a:r>
              <a:rPr lang="en-GB" sz="1600" b="1" dirty="0"/>
              <a:t>The Financial Reality</a:t>
            </a:r>
          </a:p>
          <a:p>
            <a:r>
              <a:rPr lang="en-GB" sz="1600" b="1" dirty="0"/>
              <a:t>Initial Investment: </a:t>
            </a:r>
            <a:r>
              <a:rPr lang="en-GB" sz="1600" dirty="0"/>
              <a:t>The analysis indicates that the company's initial investment was approximately Rs. 20 crore (200,000,000).</a:t>
            </a:r>
          </a:p>
          <a:p>
            <a:r>
              <a:rPr lang="en-GB" sz="1600" b="1" dirty="0"/>
              <a:t>Current Status: </a:t>
            </a:r>
            <a:r>
              <a:rPr lang="en-GB" sz="1600" dirty="0"/>
              <a:t>Despite generating a total profit of Rs. 4.3 crore, Urban Grocers has only recovered about 21.5% of its initial investment.</a:t>
            </a:r>
          </a:p>
          <a:p>
            <a:r>
              <a:rPr lang="en-GB" sz="1600" b="1" dirty="0"/>
              <a:t>The Shortfall: </a:t>
            </a:r>
            <a:r>
              <a:rPr lang="en-GB" sz="1600" dirty="0"/>
              <a:t>This leaves a substantial shortfall of Rs. 15.7 crore to be recouped from future profits.</a:t>
            </a:r>
          </a:p>
          <a:p>
            <a:endParaRPr lang="en-GB" sz="1600" dirty="0"/>
          </a:p>
          <a:p>
            <a:pPr marL="0" indent="0">
              <a:buNone/>
            </a:pPr>
            <a:r>
              <a:rPr lang="en-GB" sz="1600" b="1" dirty="0"/>
              <a:t>2. The Opportunity: A Path to Recovery</a:t>
            </a:r>
          </a:p>
          <a:p>
            <a:r>
              <a:rPr lang="en-GB" sz="1600" dirty="0"/>
              <a:t>The company is profitable, but the primary challenge is the recovery of its massive initial investment. This presents a clear objective for management.</a:t>
            </a:r>
          </a:p>
          <a:p>
            <a:endParaRPr lang="en-GB" sz="1600" dirty="0"/>
          </a:p>
          <a:p>
            <a:pPr marL="0" indent="0">
              <a:buNone/>
            </a:pPr>
            <a:r>
              <a:rPr lang="en-GB" sz="1600" b="1" dirty="0"/>
              <a:t>3. Actionable Recommendations from Our Analysis</a:t>
            </a:r>
          </a:p>
          <a:p>
            <a:r>
              <a:rPr lang="en-GB" sz="1600" b="1" dirty="0"/>
              <a:t>Optimize Inventory Management: </a:t>
            </a:r>
            <a:r>
              <a:rPr lang="en-GB" sz="1600" dirty="0"/>
              <a:t>Leverage demand forecasts to reduce overstock and costly waste.</a:t>
            </a:r>
          </a:p>
          <a:p>
            <a:r>
              <a:rPr lang="en-GB" sz="1600" b="1" dirty="0"/>
              <a:t>Refocus Promotion Strategy: </a:t>
            </a:r>
            <a:r>
              <a:rPr lang="en-GB" sz="1600" dirty="0"/>
              <a:t>Shift from essentials to non-essentials. Promotions on staple items like bread and milk have little impact, but discounts on non-essential, "treat" items (if they were sold) could effectively create new sales and a significant lift in revenue.</a:t>
            </a:r>
          </a:p>
          <a:p>
            <a:r>
              <a:rPr lang="en-GB" sz="1600" b="1" dirty="0"/>
              <a:t>Monetize Weekend &amp; Holiday Traffic:</a:t>
            </a:r>
            <a:r>
              <a:rPr lang="en-GB" sz="1600" dirty="0"/>
              <a:t> Develop targeted marketing to capture revenue from missed sales opportunities on high-traffic days.</a:t>
            </a:r>
            <a:endParaRPr lang="en-SG" sz="1600" dirty="0"/>
          </a:p>
        </p:txBody>
      </p:sp>
    </p:spTree>
    <p:extLst>
      <p:ext uri="{BB962C8B-B14F-4D97-AF65-F5344CB8AC3E}">
        <p14:creationId xmlns:p14="http://schemas.microsoft.com/office/powerpoint/2010/main" val="1051872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B7712D5-6BEE-44B4-BD35-0CE8CB99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7347" y="87755"/>
            <a:ext cx="10515600" cy="1325563"/>
          </a:xfrm>
        </p:spPr>
        <p:txBody>
          <a:bodyPr/>
          <a:lstStyle/>
          <a:p>
            <a:r>
              <a:rPr lang="en-SG" dirty="0"/>
              <a:t>Conclusion &amp; Project Showcase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1D242F-284C-4DBD-9337-7CB70EF4F7F1}"/>
              </a:ext>
            </a:extLst>
          </p:cNvPr>
          <p:cNvSpPr txBox="1"/>
          <p:nvPr/>
        </p:nvSpPr>
        <p:spPr>
          <a:xfrm>
            <a:off x="587348" y="1327093"/>
            <a:ext cx="112513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Our analysis has provided clear, data-driven insights to address core business challenges. By moving from intuition to a strategic, data-led approach, Urban Grocers can unlock its full profitability.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Key Takeaways: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b="1" dirty="0"/>
              <a:t>Overall Volatility is an Opportunity: </a:t>
            </a:r>
            <a:r>
              <a:rPr lang="en-GB" dirty="0"/>
              <a:t>By understanding seasonal demand, Urban Grocers can optimize its supply chain and operations.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b="1" dirty="0"/>
              <a:t>Promotions Need a Purpose: </a:t>
            </a:r>
            <a:r>
              <a:rPr lang="en-GB" dirty="0"/>
              <a:t>The current "one-size-fits-all" promotion strategy is not working. The future lies in targeted, profit-protecting promotions.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b="1" dirty="0"/>
              <a:t>Forecasting is the Roadmap: </a:t>
            </a:r>
            <a:r>
              <a:rPr lang="en-GB" dirty="0"/>
              <a:t>Predictive analytics offers a clear path to optimizing inventory and making smarter business decisions.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Tools &amp; Methodology: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b="1" dirty="0"/>
              <a:t>Tools: </a:t>
            </a:r>
            <a:r>
              <a:rPr lang="en-GB" dirty="0"/>
              <a:t>The analysis began with data exploration in Altair AI Studio and was further developed using Python in a </a:t>
            </a:r>
            <a:r>
              <a:rPr lang="en-GB" dirty="0" err="1"/>
              <a:t>Jupyter</a:t>
            </a:r>
            <a:r>
              <a:rPr lang="en-GB" dirty="0"/>
              <a:t> Notebook environment.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b="1" dirty="0"/>
              <a:t>Libraries:</a:t>
            </a:r>
            <a:r>
              <a:rPr lang="en-GB" dirty="0"/>
              <a:t> Pandas was used for data manipulation, and </a:t>
            </a:r>
            <a:r>
              <a:rPr lang="en-GB" dirty="0" err="1"/>
              <a:t>Plotly</a:t>
            </a:r>
            <a:r>
              <a:rPr lang="en-GB" dirty="0"/>
              <a:t> and Dash were used to build the interactive dashboard.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b="1" dirty="0"/>
              <a:t>Algorithm:</a:t>
            </a:r>
            <a:r>
              <a:rPr lang="en-GB" dirty="0"/>
              <a:t> The predictive analysis was powered by the Prophet algorithm, a powerful open-source tool designed for time-series forecasting.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b="1" dirty="0"/>
              <a:t>Methodology:</a:t>
            </a:r>
            <a:r>
              <a:rPr lang="en-GB" dirty="0"/>
              <a:t> We followed a structured approach from descriptive (What is happening?) to predictive (What will happen?).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0978747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1380</TotalTime>
  <Words>1002</Words>
  <Application>Microsoft Office PowerPoint</Application>
  <PresentationFormat>Widescreen</PresentationFormat>
  <Paragraphs>70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Analytica: Data-Driven Insights for Urban Grocers Evaluating Business Performance and Growth Opportunities</vt:lpstr>
      <vt:lpstr>Sales Rhythms: Peaks, Holidays &amp; Weekends </vt:lpstr>
      <vt:lpstr>Demand Volatility: A Systemic Challenge</vt:lpstr>
      <vt:lpstr>Promotion Effectiveness: Driving Sales or Just Increasing Costs?</vt:lpstr>
      <vt:lpstr>Demand Patterns &amp; Forecast: A Strategic Look Ahead </vt:lpstr>
      <vt:lpstr>Investment Status: A Long Road to Recovery</vt:lpstr>
      <vt:lpstr>Conclusion &amp; Project Showcase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Analytica Contest</dc:title>
  <dc:creator>Mithun V R</dc:creator>
  <cp:lastModifiedBy>Mithun V R</cp:lastModifiedBy>
  <cp:revision>20</cp:revision>
  <dcterms:created xsi:type="dcterms:W3CDTF">2025-09-19T12:15:44Z</dcterms:created>
  <dcterms:modified xsi:type="dcterms:W3CDTF">2025-09-21T08:29:43Z</dcterms:modified>
</cp:coreProperties>
</file>